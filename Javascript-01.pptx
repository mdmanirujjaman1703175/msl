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7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3" r:id="rId21"/>
    <p:sldId id="277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EDD34E-0FAA-598E-B54F-95E0FD7A70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CAD06-2445-0A5F-3184-4EA83B4B53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E1179-950A-44F6-AD34-499D38E0944A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79896-1476-E9F7-3140-7DCADBDB31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9FCDF-EB94-D5FE-3C49-AF96D872DA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71DDF-6AB4-487B-96ED-16EAD68AA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4406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D2DA4-5B6D-4CF0-BFED-4414270499F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manirujjaman25803690@gmail.com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6AEFA-F482-4836-8F68-A143EFD4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4165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E066-9DB1-42DC-B308-FE682AAD318E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36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DB63-9AB5-4EA6-86E8-7C27C547CC4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9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58B3F-04CF-4722-8AF9-D52D78395A00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01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987B1-295C-4C38-93BD-FF00750B01AD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7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1507B-CDA0-4914-92D7-4735C659EEDB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8EC96-1FA9-43DD-A721-0FE96354AB9E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6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F1B9-B52D-49FE-A5EB-097FB12BBCB2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manirujjaman25803690@gmail.com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6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C564A7-7ECC-49D7-91F2-FF7BD1C13D3C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manirujjaman25803690@gmail.com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9463-983F-4D35-A267-21C25E8D7CE3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F08D-37C8-4D28-864F-62A3D50D7E62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7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AB2B-65A4-48C7-9E7E-EB7B80125CE8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5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E460B0-D3CE-4A6F-BAF8-6486422847A4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8D3EBA2-A018-4302-9BF4-9CAACC2B38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43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60663-B97F-B1A6-BE9D-248673DC00E8}"/>
              </a:ext>
            </a:extLst>
          </p:cNvPr>
          <p:cNvSpPr txBox="1"/>
          <p:nvPr/>
        </p:nvSpPr>
        <p:spPr>
          <a:xfrm>
            <a:off x="2664541" y="1651819"/>
            <a:ext cx="59314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67D43-4B9A-ABC1-D809-CA49A3558F7F}"/>
              </a:ext>
            </a:extLst>
          </p:cNvPr>
          <p:cNvSpPr txBox="1"/>
          <p:nvPr/>
        </p:nvSpPr>
        <p:spPr>
          <a:xfrm>
            <a:off x="2858083" y="3350342"/>
            <a:ext cx="565090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Lecture By: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Md. Manirujjaman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Lecturer, Dept. of CSE,</a:t>
            </a:r>
          </a:p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Dhaka International University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46389-59F7-CF62-B217-673B063B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97E87-6D22-45B1-BE2E-B2883DE89F3E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AEE1B-C32F-8B4E-2A07-6C09AE6F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C4B04-1E69-7B36-381D-248C2958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807F9-EF96-7837-96F9-752C065BBB95}"/>
              </a:ext>
            </a:extLst>
          </p:cNvPr>
          <p:cNvSpPr txBox="1"/>
          <p:nvPr/>
        </p:nvSpPr>
        <p:spPr>
          <a:xfrm>
            <a:off x="2104101" y="2126714"/>
            <a:ext cx="84360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is the programming language of the web.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 can update and change both HTML and CSS.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 can calculate, manipulate and validate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EB2ED-391E-91B2-3C6E-A79181F7EC53}"/>
              </a:ext>
            </a:extLst>
          </p:cNvPr>
          <p:cNvSpPr txBox="1"/>
          <p:nvPr/>
        </p:nvSpPr>
        <p:spPr>
          <a:xfrm>
            <a:off x="1347019" y="96570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JavaScript?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7195E-8F05-E424-14C7-BB27A9CCEFBE}"/>
              </a:ext>
            </a:extLst>
          </p:cNvPr>
          <p:cNvSpPr txBox="1"/>
          <p:nvPr/>
        </p:nvSpPr>
        <p:spPr>
          <a:xfrm>
            <a:off x="2664541" y="4608561"/>
            <a:ext cx="731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to program the behavior of web pages</a:t>
            </a: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2FB23-7CE5-4A3B-307E-EDE1F959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25D-CC34-4090-AEEE-55D51B50ECC9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B14E5-81FD-DC52-2980-3E69557D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CC3B7-5B5C-B6E5-50C6-D6F2DBF4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5E1EC-FD62-E993-059E-455F5399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66" y="548963"/>
            <a:ext cx="4266334" cy="1584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EF5A24-5422-C7DE-849F-4C7C20E8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466" y="548963"/>
            <a:ext cx="4266334" cy="1584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33E96F-C4F3-B436-C457-FFF7C8ACF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466" y="2616361"/>
            <a:ext cx="4991533" cy="29034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CDB27-431B-19AD-F8A7-4EE39E4E4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466" y="2608741"/>
            <a:ext cx="5044877" cy="2911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E742D-9732-91E8-9542-794595FC9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48963"/>
            <a:ext cx="4231635" cy="1313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5F48F3-71C7-1E74-2DBF-350973273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48963"/>
            <a:ext cx="5968181" cy="18823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1F0D8B-8E4D-7EDA-3C09-26B38E7669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189" y="2895554"/>
            <a:ext cx="2880610" cy="1066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366F1B-89FE-9FA2-0FBA-D97859FDF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3189" y="2895554"/>
            <a:ext cx="3770432" cy="1144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C20090-D9DA-7E36-1F61-5E887CC857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189" y="4264742"/>
            <a:ext cx="3337849" cy="1371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8D32AC-7C79-767B-6EA1-DE046EBA04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188" y="4264741"/>
            <a:ext cx="3337849" cy="13717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38B91-CCB0-7ABE-6389-32E4A868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B9DD1-1AB8-4E8F-A343-792F9FAE722A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E2041-FCCD-1955-32AD-5D35990A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FFBC7-5D11-63EC-DA4D-E81F5D82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3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D6148-6E8C-7334-2937-8C20FFB40B55}"/>
              </a:ext>
            </a:extLst>
          </p:cNvPr>
          <p:cNvSpPr txBox="1"/>
          <p:nvPr/>
        </p:nvSpPr>
        <p:spPr>
          <a:xfrm>
            <a:off x="3893575" y="377410"/>
            <a:ext cx="376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JavaScript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511C3-4978-781D-C389-BF26C8E46B34}"/>
              </a:ext>
            </a:extLst>
          </p:cNvPr>
          <p:cNvSpPr txBox="1"/>
          <p:nvPr/>
        </p:nvSpPr>
        <p:spPr>
          <a:xfrm>
            <a:off x="607547" y="1338374"/>
            <a:ext cx="671196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Basic Syntex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Variables,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types,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Control Statement, Loops,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Array, Strings.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DOM Manipulation (important for web)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Courier New" panose="02070309020205020404" pitchFamily="49" charset="0"/>
              </a:rPr>
              <a:t>document.getElementById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Courier New" panose="02070309020205020404" pitchFamily="49" charset="0"/>
              </a:rPr>
              <a:t>document.querySelector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Changing text: </a:t>
            </a:r>
            <a:r>
              <a:rPr lang="en-US" sz="2000" dirty="0">
                <a:latin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</a:rPr>
              <a:t>innerHTML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</a:rPr>
              <a:t>innerText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Changing style: </a:t>
            </a:r>
            <a:r>
              <a:rPr lang="en-US" sz="2000" dirty="0">
                <a:latin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</a:rPr>
              <a:t>style.color</a:t>
            </a:r>
            <a:r>
              <a:rPr lang="en-US" sz="2000" dirty="0">
                <a:latin typeface="Courier New" panose="02070309020205020404" pitchFamily="49" charset="0"/>
              </a:rPr>
              <a:t> = "red"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Creating elements: </a:t>
            </a:r>
            <a:r>
              <a:rPr lang="en-US" sz="2000" dirty="0" err="1">
                <a:latin typeface="Courier New" panose="02070309020205020404" pitchFamily="49" charset="0"/>
              </a:rPr>
              <a:t>document.createElement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22C8D-02E0-4919-D180-B8374A75B436}"/>
              </a:ext>
            </a:extLst>
          </p:cNvPr>
          <p:cNvSpPr txBox="1"/>
          <p:nvPr/>
        </p:nvSpPr>
        <p:spPr>
          <a:xfrm>
            <a:off x="4798142" y="12171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10.Events</a:t>
            </a: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Courier New" panose="02070309020205020404" pitchFamily="49" charset="0"/>
              </a:rPr>
              <a:t>onclick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onmouseover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onkeyup</a:t>
            </a: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Courier New" panose="02070309020205020404" pitchFamily="49" charset="0"/>
              </a:rPr>
              <a:t>addEventListener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C5A68-FFF8-8895-1EE6-DCCEB02C3467}"/>
              </a:ext>
            </a:extLst>
          </p:cNvPr>
          <p:cNvSpPr txBox="1"/>
          <p:nvPr/>
        </p:nvSpPr>
        <p:spPr>
          <a:xfrm>
            <a:off x="5718174" y="2426196"/>
            <a:ext cx="6204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11.Basic Form Validation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Checking if input is empty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Validating numbers/emails with simple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44977-A41F-8B0C-F1FD-1C68C85F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FC149-48CB-4570-ABFF-4B18BC63B676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70A8A-D706-B654-CC01-C7477018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CF882-8AA8-BD26-5E84-F948058A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4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A53E8E1-A185-971D-ADAF-FA84388D9C02}"/>
              </a:ext>
            </a:extLst>
          </p:cNvPr>
          <p:cNvSpPr txBox="1"/>
          <p:nvPr/>
        </p:nvSpPr>
        <p:spPr>
          <a:xfrm>
            <a:off x="265471" y="646346"/>
            <a:ext cx="6680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Can JavaScript Code Be Placed?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066179-7472-B772-2DDA-899667098B98}"/>
              </a:ext>
            </a:extLst>
          </p:cNvPr>
          <p:cNvSpPr txBox="1"/>
          <p:nvPr/>
        </p:nvSpPr>
        <p:spPr>
          <a:xfrm>
            <a:off x="816080" y="2459504"/>
            <a:ext cx="51914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Inside &lt;script&gt; tag in HTML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 &lt;head&gt; section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runs before page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 &lt;body&gt; section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runs as the page loads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BB742F-D0FD-DA79-83AF-0F117AB4C8D6}"/>
              </a:ext>
            </a:extLst>
          </p:cNvPr>
          <p:cNvSpPr txBox="1"/>
          <p:nvPr/>
        </p:nvSpPr>
        <p:spPr>
          <a:xfrm>
            <a:off x="6184490" y="1169566"/>
            <a:ext cx="574203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&lt;head&gt;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&lt;script&gt;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alert(</a:t>
            </a:r>
            <a:r>
              <a:rPr lang="en-US" sz="32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"Head Section Script"</a:t>
            </a: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&lt;/script&gt;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&lt;/head&gt;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&lt;body&gt;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&lt;script&gt;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alert(</a:t>
            </a:r>
            <a:r>
              <a:rPr lang="en-US" sz="3200" b="0" dirty="0"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"Body Section Script"</a:t>
            </a: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&lt;/script&gt;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&lt;/body&gt;</a:t>
            </a:r>
            <a:endParaRPr lang="en-US" sz="3200" b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A7891-EE61-8F9A-7D48-1522D91A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1B00-74FE-413D-BC86-1C346C95522F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E1CC7-C3FF-40A5-C516-14BF6AD9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FF7E4-BDB4-0EF9-6EC8-F6DCC498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5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AA35A-150F-AA05-979B-72FC53FCD6F3}"/>
              </a:ext>
            </a:extLst>
          </p:cNvPr>
          <p:cNvSpPr txBox="1"/>
          <p:nvPr/>
        </p:nvSpPr>
        <p:spPr>
          <a:xfrm>
            <a:off x="1209367" y="845178"/>
            <a:ext cx="83672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External JavaScript File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Code is written in a separate </a:t>
            </a:r>
            <a:r>
              <a:rPr lang="en-US" sz="2400" dirty="0">
                <a:latin typeface="Courier New" panose="02070309020205020404" pitchFamily="49" charset="0"/>
              </a:rPr>
              <a:t>.</a:t>
            </a:r>
            <a:r>
              <a:rPr lang="en-US" sz="2400" dirty="0" err="1">
                <a:latin typeface="Courier New" panose="02070309020205020404" pitchFamily="49" charset="0"/>
              </a:rPr>
              <a:t>js</a:t>
            </a:r>
            <a:r>
              <a:rPr lang="en-US" sz="2400" dirty="0"/>
              <a:t>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Linked with </a:t>
            </a:r>
            <a:r>
              <a:rPr lang="en-US" sz="2400" dirty="0">
                <a:latin typeface="Courier New" panose="02070309020205020404" pitchFamily="49" charset="0"/>
              </a:rPr>
              <a:t>&lt;script </a:t>
            </a:r>
            <a:r>
              <a:rPr lang="en-US" sz="2400" dirty="0" err="1">
                <a:latin typeface="Courier New" panose="02070309020205020404" pitchFamily="49" charset="0"/>
              </a:rPr>
              <a:t>src</a:t>
            </a:r>
            <a:r>
              <a:rPr lang="en-US" sz="2400" dirty="0">
                <a:latin typeface="Courier New" panose="02070309020205020404" pitchFamily="49" charset="0"/>
              </a:rPr>
              <a:t>="script.js"&gt;&lt;/script&gt;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Keeps code organized &amp; reusable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60DC9-E5C8-4E8C-3939-4143885A670E}"/>
              </a:ext>
            </a:extLst>
          </p:cNvPr>
          <p:cNvSpPr txBox="1"/>
          <p:nvPr/>
        </p:nvSpPr>
        <p:spPr>
          <a:xfrm>
            <a:off x="1209367" y="2967335"/>
            <a:ext cx="104713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Inline JavaScript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Placed directly inside HTML elements (not recommended for big projects)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54035F-483A-50AA-9D5E-2C95D6AF06FC}"/>
              </a:ext>
            </a:extLst>
          </p:cNvPr>
          <p:cNvSpPr txBox="1"/>
          <p:nvPr/>
        </p:nvSpPr>
        <p:spPr>
          <a:xfrm>
            <a:off x="2659625" y="3977021"/>
            <a:ext cx="7570839" cy="282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alert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'Hello!'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)"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Click Me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55C45-BF37-E54C-E838-070CE1995914}"/>
              </a:ext>
            </a:extLst>
          </p:cNvPr>
          <p:cNvSpPr txBox="1"/>
          <p:nvPr/>
        </p:nvSpPr>
        <p:spPr>
          <a:xfrm>
            <a:off x="1681316" y="4809272"/>
            <a:ext cx="92619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Best Practice: Use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external .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cleaner, reusable, and maintainable code.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2AB52-9BB2-D2FF-F495-05877C80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B30C-2233-4C62-8288-8F5835518D7D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1F917-8E8D-CF80-5B2A-65BB9563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4BB9D-C9FC-1349-380D-31926AEE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4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07CF76-E4C9-71A7-C35F-16C7AA2B447C}"/>
              </a:ext>
            </a:extLst>
          </p:cNvPr>
          <p:cNvSpPr txBox="1"/>
          <p:nvPr/>
        </p:nvSpPr>
        <p:spPr>
          <a:xfrm>
            <a:off x="1071715" y="365941"/>
            <a:ext cx="7187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Display Possibilities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5AA9A-C111-8CE3-7AAC-A8F3C5CAC6B5}"/>
              </a:ext>
            </a:extLst>
          </p:cNvPr>
          <p:cNvSpPr txBox="1"/>
          <p:nvPr/>
        </p:nvSpPr>
        <p:spPr>
          <a:xfrm>
            <a:off x="1514168" y="1518925"/>
            <a:ext cx="9517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can "display" data in different ways: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Writing into an HTML element, using </a:t>
            </a:r>
            <a:r>
              <a:rPr lang="en-US" sz="28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or </a:t>
            </a:r>
            <a:r>
              <a:rPr lang="en-US" sz="28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innerText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Writing into the HTML output using </a:t>
            </a:r>
            <a:r>
              <a:rPr lang="en-US" sz="28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Writing into an alert box, using </a:t>
            </a:r>
            <a:r>
              <a:rPr lang="en-US" sz="28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window.alert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Writing into the browser console, using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console.log()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13C05-0D2B-929C-3CF9-7E816E71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B0EB-D6B3-40B8-BEF7-1A1FD687E888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F735E-A833-D3AD-DD7C-91D8FE58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83C6-D89B-D814-AD84-DC57AA10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0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AF680E-5CDB-9256-CEFF-FC193F038B30}"/>
              </a:ext>
            </a:extLst>
          </p:cNvPr>
          <p:cNvSpPr txBox="1"/>
          <p:nvPr/>
        </p:nvSpPr>
        <p:spPr>
          <a:xfrm>
            <a:off x="1130708" y="1058523"/>
            <a:ext cx="10301861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sz="20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innerHTML</a:t>
            </a:r>
            <a:r>
              <a:rPr lang="en-US" sz="2000" b="1" dirty="0">
                <a:solidFill>
                  <a:srgbClr val="000000"/>
                </a:solidFill>
                <a:latin typeface="Segoe UI" panose="020B0502040204020203" pitchFamily="34" charset="0"/>
              </a:rPr>
              <a:t>: </a:t>
            </a:r>
          </a:p>
          <a:p>
            <a:pPr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access an HTML element, you can use the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(id)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method.Use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the 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attribute to identify the HTML element. Then use the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property to change the HTML content of the HTML element: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0262F-718D-2B9A-C687-D0AB50765FBA}"/>
              </a:ext>
            </a:extLst>
          </p:cNvPr>
          <p:cNvSpPr txBox="1"/>
          <p:nvPr/>
        </p:nvSpPr>
        <p:spPr>
          <a:xfrm>
            <a:off x="403122" y="3187395"/>
            <a:ext cx="9252156" cy="323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Web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"demo"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document.getElementById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"demo"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).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innerHTML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"&lt;h2&gt;Hello World&lt;/h2&gt;"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A70BB3-FA16-4E07-439A-669BB2CFE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926" y="3429000"/>
            <a:ext cx="2591025" cy="1127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B07A75-F108-081D-B468-FC2D87765CAA}"/>
              </a:ext>
            </a:extLst>
          </p:cNvPr>
          <p:cNvSpPr txBox="1"/>
          <p:nvPr/>
        </p:nvSpPr>
        <p:spPr>
          <a:xfrm>
            <a:off x="1071715" y="365941"/>
            <a:ext cx="7187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Display Possibilities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14FDB-883D-AF2F-739B-B72DE175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EBDF-E061-4C34-A783-40119CE5E18B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30DEB-4038-5108-6BE2-252B9465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45E77-B7C5-C816-A701-82C231A6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1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2CDB67-B8ED-274D-EF96-55AB6DF68252}"/>
              </a:ext>
            </a:extLst>
          </p:cNvPr>
          <p:cNvSpPr txBox="1"/>
          <p:nvPr/>
        </p:nvSpPr>
        <p:spPr>
          <a:xfrm>
            <a:off x="899651" y="540029"/>
            <a:ext cx="10392697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innerText</a:t>
            </a:r>
            <a:endParaRPr lang="en-US" sz="24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access an HTML element, use the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(id)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method.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Then use the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innerText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property to change the inner text of the HTML element: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393C1-ABF8-23F3-75BD-8223C410F983}"/>
              </a:ext>
            </a:extLst>
          </p:cNvPr>
          <p:cNvSpPr txBox="1"/>
          <p:nvPr/>
        </p:nvSpPr>
        <p:spPr>
          <a:xfrm>
            <a:off x="1387840" y="2623946"/>
            <a:ext cx="9904507" cy="351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Web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Paragraph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"demo"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document.getElementById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"demo"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).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innerText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"Hello World"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699474-0764-104B-46EB-1A361283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757" y="2893749"/>
            <a:ext cx="3670565" cy="17175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F4F3D-4313-7502-E60B-EC862803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1709-FBB6-44B4-A2C9-7C844766A3A8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3F661-2531-1B3E-48DA-C5B45EC51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0D552-7785-A7AF-2587-320FEF5E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0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DC206-DC90-5CAC-CC6A-28D6F75F817F}"/>
              </a:ext>
            </a:extLst>
          </p:cNvPr>
          <p:cNvSpPr txBox="1"/>
          <p:nvPr/>
        </p:nvSpPr>
        <p:spPr>
          <a:xfrm>
            <a:off x="810667" y="1099529"/>
            <a:ext cx="10107561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document.write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testing purposes, it is convenient to use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AE4D9-E8AA-F696-B0B8-680056F01491}"/>
              </a:ext>
            </a:extLst>
          </p:cNvPr>
          <p:cNvSpPr txBox="1"/>
          <p:nvPr/>
        </p:nvSpPr>
        <p:spPr>
          <a:xfrm>
            <a:off x="1007314" y="2403175"/>
            <a:ext cx="5491809" cy="297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Web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paragraph.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DB11C-3970-AF3F-0FC9-641CFF4D6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52" y="2403175"/>
            <a:ext cx="2781541" cy="125740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43ECA-5B41-ACBF-1E42-336EDAE2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A95C-6272-42F9-8250-05765159CEB2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1143E-7325-B512-20E8-0D2AC12F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B811-AA1F-7D9C-51EF-88678070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150A3E-007D-0884-9FCE-0F240EF6F1E3}"/>
              </a:ext>
            </a:extLst>
          </p:cNvPr>
          <p:cNvSpPr txBox="1"/>
          <p:nvPr/>
        </p:nvSpPr>
        <p:spPr>
          <a:xfrm>
            <a:off x="1297857" y="837389"/>
            <a:ext cx="78953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document.write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after an HTML document is loaded, will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delete all existing HTML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1B67A-0BE1-2D07-D3A7-665DFA51CA5B}"/>
              </a:ext>
            </a:extLst>
          </p:cNvPr>
          <p:cNvSpPr txBox="1"/>
          <p:nvPr/>
        </p:nvSpPr>
        <p:spPr>
          <a:xfrm>
            <a:off x="1297857" y="2953338"/>
            <a:ext cx="10176387" cy="2616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Web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paragraph.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"button"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document</a:t>
            </a:r>
            <a:r>
              <a:rPr lang="en-US" b="0" dirty="0" err="1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write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+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6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)"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Try it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4623F-3176-7B37-01FB-445E9D65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75" y="2501037"/>
            <a:ext cx="2949196" cy="14098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B252A-6D06-2AC4-B645-D57E74797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75" y="2501037"/>
            <a:ext cx="3047759" cy="14909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88D65-7C17-EF1C-0943-4717F134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4A02D-BAAD-4435-964D-72CB991A8777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D080E-B286-EC62-B716-9BAECDC3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A319-A222-9D89-B5E2-FF1DACB3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9C637-7F43-1876-FEFF-92FA918B8ED2}"/>
              </a:ext>
            </a:extLst>
          </p:cNvPr>
          <p:cNvSpPr txBox="1"/>
          <p:nvPr/>
        </p:nvSpPr>
        <p:spPr>
          <a:xfrm>
            <a:off x="1622323" y="775913"/>
            <a:ext cx="6096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window.alert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use an alert box to display data: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23EC1-1E46-B15A-12C9-DDA83D1DEF41}"/>
              </a:ext>
            </a:extLst>
          </p:cNvPr>
          <p:cNvSpPr txBox="1"/>
          <p:nvPr/>
        </p:nvSpPr>
        <p:spPr>
          <a:xfrm>
            <a:off x="1401966" y="2748850"/>
            <a:ext cx="5706757" cy="297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Web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My first paragraph.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window.alert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"This is an alert box!"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F198BD-0173-30E3-B49D-3733EAD1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61" y="2621210"/>
            <a:ext cx="5494496" cy="1615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CE38C-D391-D467-D345-A3EB1075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1AD0-5124-4648-A688-40B4C0AD1032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380B8-E2D2-EE09-0798-DEA9EC10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62AEB-B74E-1447-EE29-58218399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30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79CE1D-1DA0-BF9E-86EE-C49DCA24C342}"/>
              </a:ext>
            </a:extLst>
          </p:cNvPr>
          <p:cNvSpPr txBox="1"/>
          <p:nvPr/>
        </p:nvSpPr>
        <p:spPr>
          <a:xfrm>
            <a:off x="1356852" y="833210"/>
            <a:ext cx="10198234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 console.log()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debugging purposes, you can call the 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console.log()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method in the browser to display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41155-7FDC-AD23-1CC8-3FFF749633F8}"/>
              </a:ext>
            </a:extLst>
          </p:cNvPr>
          <p:cNvSpPr txBox="1"/>
          <p:nvPr/>
        </p:nvSpPr>
        <p:spPr>
          <a:xfrm>
            <a:off x="1179870" y="2330765"/>
            <a:ext cx="8386916" cy="369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&lt;h2&gt;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Activate Debugging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&lt;/h2&gt;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F12 on your keyboard will activate debugging.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Then select "Console" in the debugger menu.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Then click Run again.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console.log(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09643-7985-B0C4-BE4C-AC55B72A9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901" y="2003996"/>
            <a:ext cx="4999153" cy="15774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430B1-66E7-5BD7-58DF-CA52D624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463D1-65B1-4B14-8E09-D394191E422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00E04-4638-BEA9-7C5D-50E1CB4E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17FE-5455-0DC7-7950-03477B3C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5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9A8014-47EB-3C72-AE43-F8E771C8E69D}"/>
              </a:ext>
            </a:extLst>
          </p:cNvPr>
          <p:cNvSpPr txBox="1"/>
          <p:nvPr/>
        </p:nvSpPr>
        <p:spPr>
          <a:xfrm>
            <a:off x="1081548" y="1039443"/>
            <a:ext cx="9960078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Print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does not have any print object or print methods.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cannot access output devices from JavaScript.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only exception is that you can call the </a:t>
            </a:r>
            <a:r>
              <a:rPr lang="en-US" sz="2400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window.print</a:t>
            </a:r>
            <a:r>
              <a:rPr lang="en-US" sz="24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method in the browser to print the content of the current window.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66276-00CD-58C8-1F07-EF0BF006E3AF}"/>
              </a:ext>
            </a:extLst>
          </p:cNvPr>
          <p:cNvSpPr txBox="1"/>
          <p:nvPr/>
        </p:nvSpPr>
        <p:spPr>
          <a:xfrm>
            <a:off x="1081548" y="3170387"/>
            <a:ext cx="7570839" cy="2221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&lt;h1&gt;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Print this window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&lt;/h1&gt;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"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window</a:t>
            </a:r>
            <a:r>
              <a:rPr lang="en-US" b="0" dirty="0" err="1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print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()"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Print this page</a:t>
            </a: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ascadia code" panose="020B06090200000200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A751C-2D65-74E8-95BB-622E77A0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5A331-95E7-4161-8C73-692B63EB49BB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512F2-EBC5-26E9-D23B-484FCAE1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2FD0-AF4F-2897-37DD-B5294CA0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8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8A353-2E35-9D96-2B82-9B291BAC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9" y="555653"/>
            <a:ext cx="11064926" cy="567922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BBB51-6C9F-F08C-8A88-462D48AC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9314F-E991-4DA8-8195-6EAE226ADCA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33F96-4986-7675-5185-60A1CE1D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B20DB-533D-98C1-7624-C670A98E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6BCD8-7C16-0B66-EAFB-B42BC00C40D8}"/>
              </a:ext>
            </a:extLst>
          </p:cNvPr>
          <p:cNvSpPr txBox="1"/>
          <p:nvPr/>
        </p:nvSpPr>
        <p:spPr>
          <a:xfrm>
            <a:off x="1297858" y="2133600"/>
            <a:ext cx="101731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Comments, Variable, Datatypes.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A1A16-68FA-755A-F541-83831CC8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21212-1EEC-4514-8B2B-585BDE8EABBF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FB33-B5F0-00FA-3269-49BC1283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A61F5-0899-ACE3-D50C-85F485F9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73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194B9D-3BFF-E39E-E06B-4B005D284E13}"/>
              </a:ext>
            </a:extLst>
          </p:cNvPr>
          <p:cNvSpPr txBox="1"/>
          <p:nvPr/>
        </p:nvSpPr>
        <p:spPr>
          <a:xfrm>
            <a:off x="1091380" y="972149"/>
            <a:ext cx="98224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Types of Comments in JavaScript</a:t>
            </a:r>
          </a:p>
          <a:p>
            <a:pPr>
              <a:buNone/>
            </a:pPr>
            <a:r>
              <a:rPr lang="en-US" sz="2400" dirty="0"/>
              <a:t>JavaScript supports </a:t>
            </a:r>
            <a:r>
              <a:rPr lang="en-US" sz="2400" b="1" dirty="0"/>
              <a:t>two types of comments</a:t>
            </a:r>
            <a:r>
              <a:rPr lang="en-US" sz="2400" dirty="0"/>
              <a:t>:</a:t>
            </a:r>
          </a:p>
          <a:p>
            <a:pPr>
              <a:buNone/>
            </a:pPr>
            <a:r>
              <a:rPr lang="en-US" sz="2400" b="1" dirty="0"/>
              <a:t>1. Single-line Comment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Starts with </a:t>
            </a:r>
            <a:r>
              <a:rPr lang="en-US" sz="2400" dirty="0">
                <a:latin typeface="Courier New" panose="02070309020205020404" pitchFamily="49" charset="0"/>
              </a:rPr>
              <a:t>//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Everything after </a:t>
            </a:r>
            <a:r>
              <a:rPr lang="en-US" sz="2400" dirty="0">
                <a:latin typeface="Courier New" panose="02070309020205020404" pitchFamily="49" charset="0"/>
              </a:rPr>
              <a:t>//</a:t>
            </a:r>
            <a:r>
              <a:rPr lang="en-US" sz="2400" dirty="0"/>
              <a:t> on that line is ignored by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1BC9D-CF3C-2D4F-C43E-059492EED370}"/>
              </a:ext>
            </a:extLst>
          </p:cNvPr>
          <p:cNvSpPr txBox="1"/>
          <p:nvPr/>
        </p:nvSpPr>
        <p:spPr>
          <a:xfrm>
            <a:off x="1091380" y="302353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2. Multi-line Comment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Starts with </a:t>
            </a:r>
            <a:r>
              <a:rPr lang="en-US" sz="2400" dirty="0">
                <a:latin typeface="Courier New" panose="02070309020205020404" pitchFamily="49" charset="0"/>
              </a:rPr>
              <a:t>/*</a:t>
            </a:r>
            <a:r>
              <a:rPr lang="en-US" sz="2400" dirty="0"/>
              <a:t> and ends with </a:t>
            </a:r>
            <a:r>
              <a:rPr lang="en-US" sz="2400" dirty="0">
                <a:latin typeface="Courier New" panose="02070309020205020404" pitchFamily="49" charset="0"/>
              </a:rPr>
              <a:t>*/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Can span across multiple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478C4-F0B6-DE17-C8A6-87026787F36D}"/>
              </a:ext>
            </a:extLst>
          </p:cNvPr>
          <p:cNvSpPr txBox="1"/>
          <p:nvPr/>
        </p:nvSpPr>
        <p:spPr>
          <a:xfrm>
            <a:off x="2762865" y="448902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This is a single-line comment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k =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Comment after code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/*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      This is a multi-line comment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      It can span multiple lines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    */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53A65-ABA0-FAAC-6F5F-09C6BD01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8520C-F90D-497C-B066-C86363CC5BCF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D3A6A-B09A-1A53-F835-56F092BA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B6E1D-6510-190A-507C-2750838C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03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69911-7611-DBB6-870A-D7BD15EE87C7}"/>
              </a:ext>
            </a:extLst>
          </p:cNvPr>
          <p:cNvSpPr txBox="1"/>
          <p:nvPr/>
        </p:nvSpPr>
        <p:spPr>
          <a:xfrm>
            <a:off x="1700981" y="1464359"/>
            <a:ext cx="9783095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Variables are Containers for Data</a:t>
            </a:r>
          </a:p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variables can be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declared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in 4 ways:</a:t>
            </a:r>
          </a:p>
          <a:p>
            <a:pPr lvl="1">
              <a:spcBef>
                <a:spcPts val="750"/>
              </a:spcBef>
              <a:spcAft>
                <a:spcPts val="750"/>
              </a:spcAft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Modern JavaScript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let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1">
              <a:spcBef>
                <a:spcPts val="750"/>
              </a:spcBef>
              <a:spcAft>
                <a:spcPts val="750"/>
              </a:spcAft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Older JavaScript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Using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(Not Recommended)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Automatically (Not Recommended)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86A9F-35E3-0D31-F972-4A96322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3093F-852F-4C42-BB23-F66F77D4E6A7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F05BE-A0AC-7FD3-29B4-9C95FB26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718EC-F4EC-7784-1171-C0BB3958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2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2DC50C-B557-4986-E5C5-4FFE594F6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592785"/>
              </p:ext>
            </p:extLst>
          </p:nvPr>
        </p:nvGraphicFramePr>
        <p:xfrm>
          <a:off x="688258" y="1239701"/>
          <a:ext cx="10815483" cy="4841730"/>
        </p:xfrm>
        <a:graphic>
          <a:graphicData uri="http://schemas.openxmlformats.org/drawingml/2006/table">
            <a:tbl>
              <a:tblPr/>
              <a:tblGrid>
                <a:gridCol w="1582994">
                  <a:extLst>
                    <a:ext uri="{9D8B030D-6E8A-4147-A177-3AD203B41FA5}">
                      <a16:colId xmlns:a16="http://schemas.microsoft.com/office/drawing/2014/main" val="3122835864"/>
                    </a:ext>
                  </a:extLst>
                </a:gridCol>
                <a:gridCol w="4434348">
                  <a:extLst>
                    <a:ext uri="{9D8B030D-6E8A-4147-A177-3AD203B41FA5}">
                      <a16:colId xmlns:a16="http://schemas.microsoft.com/office/drawing/2014/main" val="3718763709"/>
                    </a:ext>
                  </a:extLst>
                </a:gridCol>
                <a:gridCol w="4798141">
                  <a:extLst>
                    <a:ext uri="{9D8B030D-6E8A-4147-A177-3AD203B41FA5}">
                      <a16:colId xmlns:a16="http://schemas.microsoft.com/office/drawing/2014/main" val="2352157586"/>
                    </a:ext>
                  </a:extLst>
                </a:gridCol>
              </a:tblGrid>
              <a:tr h="3390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Type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Description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Size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283962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String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text of characters enclosed in quotes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2 bytes per character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99527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Number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number representing a mathematical value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8 bytes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410111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Bigint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number representing a large integer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/>
                        <a:t>Varies (depends on digits, minimum ~16 bytes)</a:t>
                      </a:r>
                      <a:endParaRPr lang="en-US" sz="1800" dirty="0">
                        <a:effectLst/>
                      </a:endParaRP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682642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Boolean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data type representing true or false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/>
                        <a:t>4 bytes (sometimes optimized to 1 bit internally)</a:t>
                      </a:r>
                      <a:endParaRPr lang="en-US" sz="1800" dirty="0">
                        <a:effectLst/>
                      </a:endParaRP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17757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Object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collection of key-value pairs of data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/>
                        <a:t>Varies (minimum ~32 bytes + extra per property)</a:t>
                      </a:r>
                      <a:endParaRPr lang="en-US" sz="1800" dirty="0">
                        <a:effectLst/>
                      </a:endParaRP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56398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Undefined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primitive variable with no assigned value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/>
                        <a:t>Usually 4–8 bytes (engine dependent)</a:t>
                      </a:r>
                      <a:endParaRPr lang="en-US" sz="1800" dirty="0">
                        <a:effectLst/>
                      </a:endParaRP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99305"/>
                  </a:ext>
                </a:extLst>
              </a:tr>
              <a:tr h="57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Null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A primitive value representing object absence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 bytes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745967"/>
                  </a:ext>
                </a:extLst>
              </a:tr>
              <a:tr h="3390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effectLst/>
                        </a:rPr>
                        <a:t>Symbol</a:t>
                      </a:r>
                    </a:p>
                  </a:txBody>
                  <a:tcPr marL="120870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effectLst/>
                        </a:rPr>
                        <a:t>A unique and primitive identifier</a:t>
                      </a:r>
                    </a:p>
                  </a:txBody>
                  <a:tcPr marL="60435" marR="60435" marT="60435" marB="60435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~16–32 bytes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3656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8FC8A5-FFBE-EA50-8E23-AEF024BBA44C}"/>
              </a:ext>
            </a:extLst>
          </p:cNvPr>
          <p:cNvSpPr txBox="1"/>
          <p:nvPr/>
        </p:nvSpPr>
        <p:spPr>
          <a:xfrm>
            <a:off x="3048000" y="332984"/>
            <a:ext cx="6096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has 8 Datatypes</a:t>
            </a:r>
          </a:p>
          <a:p>
            <a:pPr algn="ctr"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JavaScript variable can hold 8 types of data</a:t>
            </a: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7D704-0C63-732D-D216-C9DB9EFD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4D9C0-B46A-4F5D-A865-52CBCE9B347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645CF-DFA6-E752-6578-AAFD4110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7A05-60E1-3456-433B-F8051B94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72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7DF3F-E7B0-196E-AA09-6905DA21252E}"/>
              </a:ext>
            </a:extLst>
          </p:cNvPr>
          <p:cNvSpPr txBox="1"/>
          <p:nvPr/>
        </p:nvSpPr>
        <p:spPr>
          <a:xfrm>
            <a:off x="1258528" y="679328"/>
            <a:ext cx="25465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a-DK" dirty="0"/>
            </a:br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a-DK" dirty="0"/>
            </a:br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z = x + y;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86FDC-9E34-F9D0-C7E5-38E43EE3BC54}"/>
              </a:ext>
            </a:extLst>
          </p:cNvPr>
          <p:cNvSpPr txBox="1"/>
          <p:nvPr/>
        </p:nvSpPr>
        <p:spPr>
          <a:xfrm>
            <a:off x="7895288" y="3606495"/>
            <a:ext cx="2684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s-E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dirty="0"/>
            </a:br>
            <a:r>
              <a:rPr lang="es-E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es-E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dirty="0"/>
            </a:br>
            <a:r>
              <a:rPr lang="es-ES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z = x + y;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2BD13-BA9E-FA9B-36F6-52AF048EB32C}"/>
              </a:ext>
            </a:extLst>
          </p:cNvPr>
          <p:cNvSpPr txBox="1"/>
          <p:nvPr/>
        </p:nvSpPr>
        <p:spPr>
          <a:xfrm>
            <a:off x="1258528" y="1678547"/>
            <a:ext cx="3942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price1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price2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total = price1 + price2;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11616-E8E4-328F-B671-0F0A93E1D9DB}"/>
              </a:ext>
            </a:extLst>
          </p:cNvPr>
          <p:cNvSpPr txBox="1"/>
          <p:nvPr/>
        </p:nvSpPr>
        <p:spPr>
          <a:xfrm>
            <a:off x="7934633" y="669947"/>
            <a:ext cx="2684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a-DK" dirty="0"/>
            </a:br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da-DK" dirty="0"/>
            </a:br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z = x + y;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0115E-CBF7-09A4-7766-396EEED7B220}"/>
              </a:ext>
            </a:extLst>
          </p:cNvPr>
          <p:cNvSpPr txBox="1"/>
          <p:nvPr/>
        </p:nvSpPr>
        <p:spPr>
          <a:xfrm>
            <a:off x="7870715" y="2683165"/>
            <a:ext cx="35789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pi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answer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'Yes I am!'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DE637-C0C1-D5B9-FB00-42FD926480BA}"/>
              </a:ext>
            </a:extLst>
          </p:cNvPr>
          <p:cNvSpPr txBox="1"/>
          <p:nvPr/>
        </p:nvSpPr>
        <p:spPr>
          <a:xfrm>
            <a:off x="1258528" y="273526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"Johnson"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_x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_100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A1EA1-01E7-8FEC-7E86-728E1FA9A9DB}"/>
              </a:ext>
            </a:extLst>
          </p:cNvPr>
          <p:cNvSpPr txBox="1"/>
          <p:nvPr/>
        </p:nvSpPr>
        <p:spPr>
          <a:xfrm>
            <a:off x="7870715" y="1727011"/>
            <a:ext cx="37755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$$$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myMoney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72ABD-8E32-F7D4-0E05-505C51371384}"/>
              </a:ext>
            </a:extLst>
          </p:cNvPr>
          <p:cNvSpPr txBox="1"/>
          <p:nvPr/>
        </p:nvSpPr>
        <p:spPr>
          <a:xfrm>
            <a:off x="7855967" y="5599927"/>
            <a:ext cx="4139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C1C6E-7AF8-998C-603E-D6C676C80568}"/>
              </a:ext>
            </a:extLst>
          </p:cNvPr>
          <p:cNvSpPr txBox="1"/>
          <p:nvPr/>
        </p:nvSpPr>
        <p:spPr>
          <a:xfrm>
            <a:off x="7855967" y="5139258"/>
            <a:ext cx="3185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6F79-01B2-E1B7-9F4D-14A1ECB8BA7D}"/>
              </a:ext>
            </a:extLst>
          </p:cNvPr>
          <p:cNvSpPr txBox="1"/>
          <p:nvPr/>
        </p:nvSpPr>
        <p:spPr>
          <a:xfrm>
            <a:off x="7870715" y="4678589"/>
            <a:ext cx="3451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da-DK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da-DK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74787-15E6-8347-A6E6-B9BAA0406C71}"/>
              </a:ext>
            </a:extLst>
          </p:cNvPr>
          <p:cNvSpPr txBox="1"/>
          <p:nvPr/>
        </p:nvSpPr>
        <p:spPr>
          <a:xfrm>
            <a:off x="1258528" y="38024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price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9314B-53AF-578F-62BB-9706912414AB}"/>
              </a:ext>
            </a:extLst>
          </p:cNvPr>
          <p:cNvSpPr txBox="1"/>
          <p:nvPr/>
        </p:nvSpPr>
        <p:spPr>
          <a:xfrm>
            <a:off x="1258528" y="4592576"/>
            <a:ext cx="34511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C327C-160A-8EBA-F9B7-77C1CBEA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FA5A-AC77-43C3-80EC-C6198EB1D1D1}" type="datetime1">
              <a:rPr lang="en-US" smtClean="0"/>
              <a:t>4/4/2026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95E35F5-EA81-408F-A646-8CC4422E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9AAD9A8-CC77-EBEE-A6FB-EDE0F2A2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28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4D12D-751E-6472-E0F7-9AC0980A7B13}"/>
              </a:ext>
            </a:extLst>
          </p:cNvPr>
          <p:cNvSpPr txBox="1"/>
          <p:nvPr/>
        </p:nvSpPr>
        <p:spPr>
          <a:xfrm>
            <a:off x="363793" y="10906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Strings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color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"Johnson"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Numbers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length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weight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Bigint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 1234567890123456789012345n;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BigInt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1234567890123456789012345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Booleans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FAB15-C105-0117-C8A4-F77671159882}"/>
              </a:ext>
            </a:extLst>
          </p:cNvPr>
          <p:cNvSpPr txBox="1"/>
          <p:nvPr/>
        </p:nvSpPr>
        <p:spPr>
          <a:xfrm>
            <a:off x="6096000" y="781378"/>
            <a:ext cx="53389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Undefined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y;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E38ED-5899-6282-3FA4-EDA17D308828}"/>
              </a:ext>
            </a:extLst>
          </p:cNvPr>
          <p:cNvSpPr txBox="1"/>
          <p:nvPr/>
        </p:nvSpPr>
        <p:spPr>
          <a:xfrm>
            <a:off x="363793" y="5384124"/>
            <a:ext cx="2428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Null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D5445-026E-D374-6CE6-D0584972A54C}"/>
              </a:ext>
            </a:extLst>
          </p:cNvPr>
          <p:cNvSpPr txBox="1"/>
          <p:nvPr/>
        </p:nvSpPr>
        <p:spPr>
          <a:xfrm>
            <a:off x="6096000" y="1704708"/>
            <a:ext cx="4100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Using double quotes: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carName1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"Volvo XC60"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Using single quotes: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carName2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'Volvo XC60'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7C43F-8C24-1223-EC03-866914B6756F}"/>
              </a:ext>
            </a:extLst>
          </p:cNvPr>
          <p:cNvSpPr txBox="1"/>
          <p:nvPr/>
        </p:nvSpPr>
        <p:spPr>
          <a:xfrm>
            <a:off x="6096000" y="336893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Single quote inside double quotes: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answer1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"It's alright"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Single quotes inside double quotes: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answer2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 is called 'Johnny'"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Double quotes inside single quotes: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answer3 =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'He is called "Johnny"'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CD537-F734-C01B-FA38-79654E3C887F}"/>
              </a:ext>
            </a:extLst>
          </p:cNvPr>
          <p:cNvSpPr txBox="1"/>
          <p:nvPr/>
        </p:nvSpPr>
        <p:spPr>
          <a:xfrm>
            <a:off x="6096000" y="58671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123e5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12300000</a:t>
            </a:r>
            <a:b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z =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123e-5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0.00123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86751-073D-22FA-C9BF-CF3FCAEF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B360-665A-4E4D-9B8E-EEC5EB534711}" type="datetime1">
              <a:rPr lang="en-US" smtClean="0"/>
              <a:t>4/4/2026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D4C613-94F4-F6B5-8476-EBBB2461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E40145-341E-2C87-4802-8E45E744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11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A0F06-1543-3A07-9518-2D409E3DD853}"/>
              </a:ext>
            </a:extLst>
          </p:cNvPr>
          <p:cNvSpPr txBox="1"/>
          <p:nvPr/>
        </p:nvSpPr>
        <p:spPr>
          <a:xfrm>
            <a:off x="1022555" y="1075625"/>
            <a:ext cx="9301316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When to use JavaScript const?</a:t>
            </a:r>
          </a:p>
          <a:p>
            <a:pPr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Always declare a variable with </a:t>
            </a:r>
            <a:r>
              <a:rPr lang="en-US" sz="24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when you know that the value should not be changed.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when you declare: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new Array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new Object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new Function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new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RegExp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F3C87-C5B1-5BEF-8FC5-4C01FB18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69D83-F70B-49A1-A667-D0D3A74E1759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0EAC4-D505-B659-6AC6-BA3C9C8D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FEAA1-D856-4555-EA43-F1AF7779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7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17CC82-3CB5-4AC0-15B4-72C82996FA91}"/>
              </a:ext>
            </a:extLst>
          </p:cNvPr>
          <p:cNvSpPr txBox="1"/>
          <p:nvPr/>
        </p:nvSpPr>
        <p:spPr>
          <a:xfrm>
            <a:off x="757084" y="837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keyword </a:t>
            </a:r>
            <a:r>
              <a:rPr lang="en-US" b="1" dirty="0">
                <a:latin typeface="Courier New" panose="02070309020205020404" pitchFamily="49" charset="0"/>
              </a:rPr>
              <a:t>const</a:t>
            </a:r>
            <a:r>
              <a:rPr lang="en-US" dirty="0"/>
              <a:t> behaves differently in </a:t>
            </a:r>
            <a:r>
              <a:rPr lang="en-US" b="1" dirty="0"/>
              <a:t>C/C++</a:t>
            </a:r>
            <a:r>
              <a:rPr lang="en-US" dirty="0"/>
              <a:t> vs </a:t>
            </a:r>
            <a:r>
              <a:rPr lang="en-US" b="1" dirty="0"/>
              <a:t>JavaScript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1A097-378A-1859-DC48-013BEF450C6A}"/>
              </a:ext>
            </a:extLst>
          </p:cNvPr>
          <p:cNvSpPr txBox="1"/>
          <p:nvPr/>
        </p:nvSpPr>
        <p:spPr>
          <a:xfrm>
            <a:off x="855407" y="120722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 JavaScript: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const</a:t>
            </a:r>
            <a:r>
              <a:rPr lang="en-US" dirty="0"/>
              <a:t> does </a:t>
            </a:r>
            <a:r>
              <a:rPr lang="en-US" b="1" dirty="0"/>
              <a:t>not</a:t>
            </a:r>
            <a:r>
              <a:rPr lang="en-US" dirty="0"/>
              <a:t> make a value immutable.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only means the </a:t>
            </a:r>
            <a:r>
              <a:rPr lang="en-US" b="1" dirty="0"/>
              <a:t>binding (reference)</a:t>
            </a:r>
            <a:r>
              <a:rPr lang="en-US" dirty="0"/>
              <a:t> cannot be reassigned.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does not define a constant value. It defines a constant reference to a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0C842-37AD-4843-0BFA-D2D0B588D906}"/>
              </a:ext>
            </a:extLst>
          </p:cNvPr>
          <p:cNvSpPr txBox="1"/>
          <p:nvPr/>
        </p:nvSpPr>
        <p:spPr>
          <a:xfrm>
            <a:off x="855406" y="2672099"/>
            <a:ext cx="2802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Constant value: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A1DC6-1B82-5C67-20DC-B9EEA9400F27}"/>
              </a:ext>
            </a:extLst>
          </p:cNvPr>
          <p:cNvSpPr txBox="1"/>
          <p:nvPr/>
        </p:nvSpPr>
        <p:spPr>
          <a:xfrm>
            <a:off x="855407" y="3824257"/>
            <a:ext cx="2458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Constant array: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68E90-5D25-1655-3F71-AD34A715207B}"/>
              </a:ext>
            </a:extLst>
          </p:cNvPr>
          <p:cNvSpPr txBox="1"/>
          <p:nvPr/>
        </p:nvSpPr>
        <p:spPr>
          <a:xfrm>
            <a:off x="757083" y="3177926"/>
            <a:ext cx="7905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 x =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Error: Assignment to constant variable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1F408-9F32-8384-4564-C57C3D8B4703}"/>
              </a:ext>
            </a:extLst>
          </p:cNvPr>
          <p:cNvSpPr txBox="1"/>
          <p:nvPr/>
        </p:nvSpPr>
        <p:spPr>
          <a:xfrm>
            <a:off x="855407" y="4228133"/>
            <a:ext cx="73348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];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];  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Error (reassignment not allowed)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99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Allowed (modifying elements)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console.log(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[99, 2, 3]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arr.push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You can add an element: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415E9-2B0B-A253-C282-94403AE8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1B9E-F3FC-43A9-8002-CBAAFC72759D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654FB-CA06-1095-56F4-2785A1E3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77C78-8101-6AA9-A87F-0CA34A4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652E2A-4753-26F1-6817-E9422C452A01}"/>
              </a:ext>
            </a:extLst>
          </p:cNvPr>
          <p:cNvSpPr txBox="1"/>
          <p:nvPr/>
        </p:nvSpPr>
        <p:spPr>
          <a:xfrm>
            <a:off x="786581" y="1165883"/>
            <a:ext cx="10550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person = { name: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"Ali"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age: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person = { name: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"Sara"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};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Error (reassignment not allowed)</a:t>
            </a:r>
            <a:b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person.age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Allowed (property modification)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console.log(person);    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{ name: "Ali", age: 25 }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258D2-3AC4-27ED-3E85-51B416244E51}"/>
              </a:ext>
            </a:extLst>
          </p:cNvPr>
          <p:cNvSpPr txBox="1"/>
          <p:nvPr/>
        </p:nvSpPr>
        <p:spPr>
          <a:xfrm>
            <a:off x="786581" y="717755"/>
            <a:ext cx="1856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Constant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7F6B-C159-07B6-5572-DC4D352E638B}"/>
              </a:ext>
            </a:extLst>
          </p:cNvPr>
          <p:cNvSpPr txBox="1"/>
          <p:nvPr/>
        </p:nvSpPr>
        <p:spPr>
          <a:xfrm>
            <a:off x="786581" y="2851439"/>
            <a:ext cx="3086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Array and Objects using 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442BD5-0057-5C0A-52F7-2AA5EFE4C4BC}"/>
              </a:ext>
            </a:extLst>
          </p:cNvPr>
          <p:cNvSpPr txBox="1"/>
          <p:nvPr/>
        </p:nvSpPr>
        <p:spPr>
          <a:xfrm>
            <a:off x="786581" y="32379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];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= [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];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reassign entire array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arr.push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ascadia code" panose="020B06090200000200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    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modify contents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console.log(</a:t>
            </a:r>
            <a:r>
              <a:rPr lang="en-US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);  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[4, 5, 6, 7]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835DC-18F9-869D-BF42-DE345E15E627}"/>
              </a:ext>
            </a:extLst>
          </p:cNvPr>
          <p:cNvSpPr txBox="1"/>
          <p:nvPr/>
        </p:nvSpPr>
        <p:spPr>
          <a:xfrm>
            <a:off x="786581" y="4658890"/>
            <a:ext cx="8632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 obj = {name: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"John"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obj = {name: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"Doe"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};       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reassign entire object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obj.name = </a:t>
            </a:r>
            <a:r>
              <a:rPr lang="en-US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;    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modify property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</a:rPr>
              <a:t>console.log(obj);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</a:rPr>
              <a:t>// {name: "Alice"}</a:t>
            </a:r>
            <a:endParaRPr lang="en-US" b="0" dirty="0">
              <a:solidFill>
                <a:srgbClr val="000000"/>
              </a:solidFill>
              <a:effectLst/>
              <a:latin typeface="cascadia code" panose="020B06090200000200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6C73E-67B2-1B55-E68D-3802A20F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5BA58-E597-4972-BD8D-F9478D921415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97F9C-412C-0984-C570-3485B9A1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F5823-F8C1-B6AF-B6FC-36A52805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07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BFFEA-E5C9-1FA9-6B6D-3156B6EC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F1B9-B52D-49FE-A5EB-097FB12BBCB2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D9AB1-6AD3-90CB-2AC6-8D62B6C3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manirujjaman25803690@gmail.com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FCD8B-B1A5-523B-8024-7E8FA5B0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3EBA2-A018-4302-9BF4-9CAACC2B38FD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0EAA3-EB4A-C37F-5794-6DEF764F567A}"/>
              </a:ext>
            </a:extLst>
          </p:cNvPr>
          <p:cNvSpPr txBox="1"/>
          <p:nvPr/>
        </p:nvSpPr>
        <p:spPr>
          <a:xfrm>
            <a:off x="4395020" y="2320413"/>
            <a:ext cx="36601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61089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343</TotalTime>
  <Words>2115</Words>
  <Application>Microsoft Office PowerPoint</Application>
  <PresentationFormat>Widescreen</PresentationFormat>
  <Paragraphs>345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cascadia code</vt:lpstr>
      <vt:lpstr>Consolas</vt:lpstr>
      <vt:lpstr>Courier New</vt:lpstr>
      <vt:lpstr>Segoe UI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Manirujjaman</dc:creator>
  <cp:lastModifiedBy>Md Manirujjaman</cp:lastModifiedBy>
  <cp:revision>10</cp:revision>
  <dcterms:created xsi:type="dcterms:W3CDTF">2025-09-12T06:59:23Z</dcterms:created>
  <dcterms:modified xsi:type="dcterms:W3CDTF">2026-04-04T16:05:44Z</dcterms:modified>
</cp:coreProperties>
</file>